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9561513" cy="382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7A38BD-8516-874E-8319-B93959E3C167}" v="15" dt="2026-01-26T18:19:31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/>
    <p:restoredTop sz="94640"/>
  </p:normalViewPr>
  <p:slideViewPr>
    <p:cSldViewPr snapToGrid="0">
      <p:cViewPr varScale="1">
        <p:scale>
          <a:sx n="315" d="100"/>
          <a:sy n="315" d="100"/>
        </p:scale>
        <p:origin x="216" y="9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3AAD3-71D7-AC4B-8EF7-D8DD7F1D7D5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30213" y="1143000"/>
            <a:ext cx="7718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A52A0-EBDE-A24B-AF04-9DA3449DA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2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1pPr>
    <a:lvl2pPr marL="339881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2pPr>
    <a:lvl3pPr marL="679758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3pPr>
    <a:lvl4pPr marL="1019639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4pPr>
    <a:lvl5pPr marL="1359516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5pPr>
    <a:lvl6pPr marL="1699397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6pPr>
    <a:lvl7pPr marL="2039276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7pPr>
    <a:lvl8pPr marL="2379155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8pPr>
    <a:lvl9pPr marL="2719034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A52A0-EBDE-A24B-AF04-9DA3449DAB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189" y="625613"/>
            <a:ext cx="7171135" cy="1330866"/>
          </a:xfrm>
        </p:spPr>
        <p:txBody>
          <a:bodyPr anchor="b"/>
          <a:lstStyle>
            <a:lvl1pPr algn="ctr">
              <a:defRPr sz="3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5189" y="2007803"/>
            <a:ext cx="7171135" cy="922934"/>
          </a:xfrm>
        </p:spPr>
        <p:txBody>
          <a:bodyPr/>
          <a:lstStyle>
            <a:lvl1pPr marL="0" indent="0" algn="ctr">
              <a:buNone/>
              <a:defRPr sz="1338"/>
            </a:lvl1pPr>
            <a:lvl2pPr marL="254843" indent="0" algn="ctr">
              <a:buNone/>
              <a:defRPr sz="1115"/>
            </a:lvl2pPr>
            <a:lvl3pPr marL="509687" indent="0" algn="ctr">
              <a:buNone/>
              <a:defRPr sz="1003"/>
            </a:lvl3pPr>
            <a:lvl4pPr marL="764530" indent="0" algn="ctr">
              <a:buNone/>
              <a:defRPr sz="892"/>
            </a:lvl4pPr>
            <a:lvl5pPr marL="1019373" indent="0" algn="ctr">
              <a:buNone/>
              <a:defRPr sz="892"/>
            </a:lvl5pPr>
            <a:lvl6pPr marL="1274216" indent="0" algn="ctr">
              <a:buNone/>
              <a:defRPr sz="892"/>
            </a:lvl6pPr>
            <a:lvl7pPr marL="1529060" indent="0" algn="ctr">
              <a:buNone/>
              <a:defRPr sz="892"/>
            </a:lvl7pPr>
            <a:lvl8pPr marL="1783903" indent="0" algn="ctr">
              <a:buNone/>
              <a:defRPr sz="892"/>
            </a:lvl8pPr>
            <a:lvl9pPr marL="2038746" indent="0" algn="ctr">
              <a:buNone/>
              <a:defRPr sz="89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8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9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74" y="953021"/>
            <a:ext cx="8246805" cy="1590137"/>
          </a:xfrm>
        </p:spPr>
        <p:txBody>
          <a:bodyPr anchor="b"/>
          <a:lstStyle>
            <a:lvl1pPr>
              <a:defRPr sz="3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374" y="2558201"/>
            <a:ext cx="8246805" cy="836215"/>
          </a:xfrm>
        </p:spPr>
        <p:txBody>
          <a:bodyPr/>
          <a:lstStyle>
            <a:lvl1pPr marL="0" indent="0">
              <a:buNone/>
              <a:defRPr sz="1338">
                <a:solidFill>
                  <a:schemeClr val="tx1">
                    <a:tint val="82000"/>
                  </a:schemeClr>
                </a:solidFill>
              </a:defRPr>
            </a:lvl1pPr>
            <a:lvl2pPr marL="254843" indent="0">
              <a:buNone/>
              <a:defRPr sz="1115">
                <a:solidFill>
                  <a:schemeClr val="tx1">
                    <a:tint val="82000"/>
                  </a:schemeClr>
                </a:solidFill>
              </a:defRPr>
            </a:lvl2pPr>
            <a:lvl3pPr marL="509687" indent="0">
              <a:buNone/>
              <a:defRPr sz="1003">
                <a:solidFill>
                  <a:schemeClr val="tx1">
                    <a:tint val="82000"/>
                  </a:schemeClr>
                </a:solidFill>
              </a:defRPr>
            </a:lvl3pPr>
            <a:lvl4pPr marL="764530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4pPr>
            <a:lvl5pPr marL="101937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5pPr>
            <a:lvl6pPr marL="127421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6pPr>
            <a:lvl7pPr marL="1529060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7pPr>
            <a:lvl8pPr marL="178390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8pPr>
            <a:lvl9pPr marL="203874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9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7354" y="1017617"/>
            <a:ext cx="4063643" cy="2425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0516" y="1017617"/>
            <a:ext cx="4063643" cy="2425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8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599" y="203523"/>
            <a:ext cx="8246805" cy="7388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600" y="937093"/>
            <a:ext cx="4044968" cy="459255"/>
          </a:xfrm>
        </p:spPr>
        <p:txBody>
          <a:bodyPr anchor="b"/>
          <a:lstStyle>
            <a:lvl1pPr marL="0" indent="0">
              <a:buNone/>
              <a:defRPr sz="1338" b="1"/>
            </a:lvl1pPr>
            <a:lvl2pPr marL="254843" indent="0">
              <a:buNone/>
              <a:defRPr sz="1115" b="1"/>
            </a:lvl2pPr>
            <a:lvl3pPr marL="509687" indent="0">
              <a:buNone/>
              <a:defRPr sz="1003" b="1"/>
            </a:lvl3pPr>
            <a:lvl4pPr marL="764530" indent="0">
              <a:buNone/>
              <a:defRPr sz="892" b="1"/>
            </a:lvl4pPr>
            <a:lvl5pPr marL="1019373" indent="0">
              <a:buNone/>
              <a:defRPr sz="892" b="1"/>
            </a:lvl5pPr>
            <a:lvl6pPr marL="1274216" indent="0">
              <a:buNone/>
              <a:defRPr sz="892" b="1"/>
            </a:lvl6pPr>
            <a:lvl7pPr marL="1529060" indent="0">
              <a:buNone/>
              <a:defRPr sz="892" b="1"/>
            </a:lvl7pPr>
            <a:lvl8pPr marL="1783903" indent="0">
              <a:buNone/>
              <a:defRPr sz="892" b="1"/>
            </a:lvl8pPr>
            <a:lvl9pPr marL="2038746" indent="0">
              <a:buNone/>
              <a:defRPr sz="8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600" y="1396347"/>
            <a:ext cx="4044968" cy="20538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0516" y="937093"/>
            <a:ext cx="4064888" cy="459255"/>
          </a:xfrm>
        </p:spPr>
        <p:txBody>
          <a:bodyPr anchor="b"/>
          <a:lstStyle>
            <a:lvl1pPr marL="0" indent="0">
              <a:buNone/>
              <a:defRPr sz="1338" b="1"/>
            </a:lvl1pPr>
            <a:lvl2pPr marL="254843" indent="0">
              <a:buNone/>
              <a:defRPr sz="1115" b="1"/>
            </a:lvl2pPr>
            <a:lvl3pPr marL="509687" indent="0">
              <a:buNone/>
              <a:defRPr sz="1003" b="1"/>
            </a:lvl3pPr>
            <a:lvl4pPr marL="764530" indent="0">
              <a:buNone/>
              <a:defRPr sz="892" b="1"/>
            </a:lvl4pPr>
            <a:lvl5pPr marL="1019373" indent="0">
              <a:buNone/>
              <a:defRPr sz="892" b="1"/>
            </a:lvl5pPr>
            <a:lvl6pPr marL="1274216" indent="0">
              <a:buNone/>
              <a:defRPr sz="892" b="1"/>
            </a:lvl6pPr>
            <a:lvl7pPr marL="1529060" indent="0">
              <a:buNone/>
              <a:defRPr sz="892" b="1"/>
            </a:lvl7pPr>
            <a:lvl8pPr marL="1783903" indent="0">
              <a:buNone/>
              <a:defRPr sz="892" b="1"/>
            </a:lvl8pPr>
            <a:lvl9pPr marL="2038746" indent="0">
              <a:buNone/>
              <a:defRPr sz="8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0516" y="1396347"/>
            <a:ext cx="4064888" cy="20538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0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5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00" y="254847"/>
            <a:ext cx="3083837" cy="891963"/>
          </a:xfrm>
        </p:spPr>
        <p:txBody>
          <a:bodyPr anchor="b"/>
          <a:lstStyle>
            <a:lvl1pPr>
              <a:defRPr sz="17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888" y="550398"/>
            <a:ext cx="4840516" cy="2716595"/>
          </a:xfrm>
        </p:spPr>
        <p:txBody>
          <a:bodyPr/>
          <a:lstStyle>
            <a:lvl1pPr>
              <a:defRPr sz="1784"/>
            </a:lvl1pPr>
            <a:lvl2pPr>
              <a:defRPr sz="1561"/>
            </a:lvl2pPr>
            <a:lvl3pPr>
              <a:defRPr sz="1338"/>
            </a:lvl3pPr>
            <a:lvl4pPr>
              <a:defRPr sz="1115"/>
            </a:lvl4pPr>
            <a:lvl5pPr>
              <a:defRPr sz="1115"/>
            </a:lvl5pPr>
            <a:lvl6pPr>
              <a:defRPr sz="1115"/>
            </a:lvl6pPr>
            <a:lvl7pPr>
              <a:defRPr sz="1115"/>
            </a:lvl7pPr>
            <a:lvl8pPr>
              <a:defRPr sz="1115"/>
            </a:lvl8pPr>
            <a:lvl9pPr>
              <a:defRPr sz="11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600" y="1146810"/>
            <a:ext cx="3083837" cy="2124607"/>
          </a:xfrm>
        </p:spPr>
        <p:txBody>
          <a:bodyPr/>
          <a:lstStyle>
            <a:lvl1pPr marL="0" indent="0">
              <a:buNone/>
              <a:defRPr sz="892"/>
            </a:lvl1pPr>
            <a:lvl2pPr marL="254843" indent="0">
              <a:buNone/>
              <a:defRPr sz="780"/>
            </a:lvl2pPr>
            <a:lvl3pPr marL="509687" indent="0">
              <a:buNone/>
              <a:defRPr sz="669"/>
            </a:lvl3pPr>
            <a:lvl4pPr marL="764530" indent="0">
              <a:buNone/>
              <a:defRPr sz="557"/>
            </a:lvl4pPr>
            <a:lvl5pPr marL="1019373" indent="0">
              <a:buNone/>
              <a:defRPr sz="557"/>
            </a:lvl5pPr>
            <a:lvl6pPr marL="1274216" indent="0">
              <a:buNone/>
              <a:defRPr sz="557"/>
            </a:lvl6pPr>
            <a:lvl7pPr marL="1529060" indent="0">
              <a:buNone/>
              <a:defRPr sz="557"/>
            </a:lvl7pPr>
            <a:lvl8pPr marL="1783903" indent="0">
              <a:buNone/>
              <a:defRPr sz="557"/>
            </a:lvl8pPr>
            <a:lvl9pPr marL="2038746" indent="0">
              <a:buNone/>
              <a:defRPr sz="5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1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00" y="254847"/>
            <a:ext cx="3083837" cy="891963"/>
          </a:xfrm>
        </p:spPr>
        <p:txBody>
          <a:bodyPr anchor="b"/>
          <a:lstStyle>
            <a:lvl1pPr>
              <a:defRPr sz="17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64888" y="550398"/>
            <a:ext cx="4840516" cy="2716595"/>
          </a:xfrm>
        </p:spPr>
        <p:txBody>
          <a:bodyPr anchor="t"/>
          <a:lstStyle>
            <a:lvl1pPr marL="0" indent="0">
              <a:buNone/>
              <a:defRPr sz="1784"/>
            </a:lvl1pPr>
            <a:lvl2pPr marL="254843" indent="0">
              <a:buNone/>
              <a:defRPr sz="1561"/>
            </a:lvl2pPr>
            <a:lvl3pPr marL="509687" indent="0">
              <a:buNone/>
              <a:defRPr sz="1338"/>
            </a:lvl3pPr>
            <a:lvl4pPr marL="764530" indent="0">
              <a:buNone/>
              <a:defRPr sz="1115"/>
            </a:lvl4pPr>
            <a:lvl5pPr marL="1019373" indent="0">
              <a:buNone/>
              <a:defRPr sz="1115"/>
            </a:lvl5pPr>
            <a:lvl6pPr marL="1274216" indent="0">
              <a:buNone/>
              <a:defRPr sz="1115"/>
            </a:lvl6pPr>
            <a:lvl7pPr marL="1529060" indent="0">
              <a:buNone/>
              <a:defRPr sz="1115"/>
            </a:lvl7pPr>
            <a:lvl8pPr marL="1783903" indent="0">
              <a:buNone/>
              <a:defRPr sz="1115"/>
            </a:lvl8pPr>
            <a:lvl9pPr marL="2038746" indent="0">
              <a:buNone/>
              <a:defRPr sz="11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600" y="1146810"/>
            <a:ext cx="3083837" cy="2124607"/>
          </a:xfrm>
        </p:spPr>
        <p:txBody>
          <a:bodyPr/>
          <a:lstStyle>
            <a:lvl1pPr marL="0" indent="0">
              <a:buNone/>
              <a:defRPr sz="892"/>
            </a:lvl1pPr>
            <a:lvl2pPr marL="254843" indent="0">
              <a:buNone/>
              <a:defRPr sz="780"/>
            </a:lvl2pPr>
            <a:lvl3pPr marL="509687" indent="0">
              <a:buNone/>
              <a:defRPr sz="669"/>
            </a:lvl3pPr>
            <a:lvl4pPr marL="764530" indent="0">
              <a:buNone/>
              <a:defRPr sz="557"/>
            </a:lvl4pPr>
            <a:lvl5pPr marL="1019373" indent="0">
              <a:buNone/>
              <a:defRPr sz="557"/>
            </a:lvl5pPr>
            <a:lvl6pPr marL="1274216" indent="0">
              <a:buNone/>
              <a:defRPr sz="557"/>
            </a:lvl6pPr>
            <a:lvl7pPr marL="1529060" indent="0">
              <a:buNone/>
              <a:defRPr sz="557"/>
            </a:lvl7pPr>
            <a:lvl8pPr marL="1783903" indent="0">
              <a:buNone/>
              <a:defRPr sz="557"/>
            </a:lvl8pPr>
            <a:lvl9pPr marL="2038746" indent="0">
              <a:buNone/>
              <a:defRPr sz="5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3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2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2458" y="203523"/>
            <a:ext cx="2061701" cy="3239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7354" y="203523"/>
            <a:ext cx="6065585" cy="3239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354" y="203523"/>
            <a:ext cx="8246805" cy="73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354" y="1017617"/>
            <a:ext cx="8246805" cy="2425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7354" y="3543077"/>
            <a:ext cx="2151340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56222-9F14-664A-BDE1-9B3FD3BCA48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67251" y="3543077"/>
            <a:ext cx="3227011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2819" y="3543077"/>
            <a:ext cx="2151340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09687" rtl="0" eaLnBrk="1" latinLnBrk="0" hangingPunct="1">
        <a:lnSpc>
          <a:spcPct val="90000"/>
        </a:lnSpc>
        <a:spcBef>
          <a:spcPct val="0"/>
        </a:spcBef>
        <a:buNone/>
        <a:defRPr sz="2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422" indent="-127422" algn="l" defTabSz="50968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1pPr>
      <a:lvl2pPr marL="38226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338" kern="1200">
          <a:solidFill>
            <a:schemeClr val="tx1"/>
          </a:solidFill>
          <a:latin typeface="+mn-lt"/>
          <a:ea typeface="+mn-ea"/>
          <a:cs typeface="+mn-cs"/>
        </a:defRPr>
      </a:lvl2pPr>
      <a:lvl3pPr marL="63710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3pPr>
      <a:lvl4pPr marL="891951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14679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40163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656481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91132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16616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1pPr>
      <a:lvl2pPr marL="25484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2pPr>
      <a:lvl3pPr marL="509687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3pPr>
      <a:lvl4pPr marL="76453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01937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274216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52906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78390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038746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emf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89AD3D-0A84-CE10-29E3-2A22BEAFB8E5}"/>
              </a:ext>
            </a:extLst>
          </p:cNvPr>
          <p:cNvSpPr>
            <a:spLocks/>
          </p:cNvSpPr>
          <p:nvPr/>
        </p:nvSpPr>
        <p:spPr>
          <a:xfrm>
            <a:off x="7265" y="318"/>
            <a:ext cx="3180822" cy="3822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A87CE-4EBA-839A-50A7-1756C46C16C2}"/>
              </a:ext>
            </a:extLst>
          </p:cNvPr>
          <p:cNvSpPr>
            <a:spLocks/>
          </p:cNvSpPr>
          <p:nvPr/>
        </p:nvSpPr>
        <p:spPr>
          <a:xfrm>
            <a:off x="3192617" y="318"/>
            <a:ext cx="3180822" cy="38220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FA2F8-DB44-1568-C3B5-CEC08F0B7628}"/>
              </a:ext>
            </a:extLst>
          </p:cNvPr>
          <p:cNvSpPr>
            <a:spLocks/>
          </p:cNvSpPr>
          <p:nvPr/>
        </p:nvSpPr>
        <p:spPr>
          <a:xfrm>
            <a:off x="6377968" y="318"/>
            <a:ext cx="3180822" cy="38220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FE8D1-E98D-8837-B4D4-0A66670C438B}"/>
              </a:ext>
            </a:extLst>
          </p:cNvPr>
          <p:cNvSpPr txBox="1"/>
          <p:nvPr/>
        </p:nvSpPr>
        <p:spPr>
          <a:xfrm>
            <a:off x="0" y="318"/>
            <a:ext cx="9558785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50800" dir="5400000" algn="ctr" rotWithShape="0">
              <a:srgbClr val="000000">
                <a:alpha val="67921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This meta-analysis summarizes and explains the variation in the </a:t>
            </a:r>
            <a:r>
              <a:rPr lang="en-US" sz="1200" b="1" dirty="0"/>
              <a:t>deterring effect </a:t>
            </a:r>
            <a:r>
              <a:rPr lang="en-US" sz="1200" dirty="0"/>
              <a:t>of distance on tourism flows by analyzing 870 estimates </a:t>
            </a:r>
            <a:r>
              <a:rPr lang="en-US" sz="1200"/>
              <a:t>from 138 </a:t>
            </a:r>
            <a:r>
              <a:rPr lang="en-US" sz="1200" dirty="0"/>
              <a:t>primary studies utilizing data covering the last 25 years. We find an </a:t>
            </a:r>
            <a:r>
              <a:rPr lang="en-US" sz="1200" b="1" dirty="0"/>
              <a:t>average</a:t>
            </a:r>
            <a:r>
              <a:rPr lang="en-US" sz="1200" dirty="0"/>
              <a:t> total distance-decay elasticity of -0.95.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767C0-F118-F055-A868-49A3AE3A04DD}"/>
              </a:ext>
            </a:extLst>
          </p:cNvPr>
          <p:cNvSpPr txBox="1"/>
          <p:nvPr/>
        </p:nvSpPr>
        <p:spPr>
          <a:xfrm>
            <a:off x="237513" y="2968831"/>
            <a:ext cx="2754742" cy="78319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when controlling for </a:t>
            </a:r>
            <a:r>
              <a:rPr lang="en-US" sz="1000" b="1" dirty="0"/>
              <a:t>mediating</a:t>
            </a:r>
            <a:r>
              <a:rPr lang="en-US" sz="1000" dirty="0"/>
              <a:t> factors, such as island destinations     , sea access     , and  world heritage sites   , the distance-decay effect becomes flatter. 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14332960-D3A7-4CD2-2E2C-06775E099648}"/>
              </a:ext>
            </a:extLst>
          </p:cNvPr>
          <p:cNvSpPr/>
          <p:nvPr/>
        </p:nvSpPr>
        <p:spPr>
          <a:xfrm>
            <a:off x="2684331" y="2623542"/>
            <a:ext cx="1044000" cy="2540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Where …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8F7523FD-EB21-82E0-8A59-D7AC98DA947B}"/>
              </a:ext>
            </a:extLst>
          </p:cNvPr>
          <p:cNvSpPr/>
          <p:nvPr/>
        </p:nvSpPr>
        <p:spPr>
          <a:xfrm>
            <a:off x="5860464" y="2629635"/>
            <a:ext cx="1044000" cy="2540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Resulting in …</a:t>
            </a: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7599F8AE-A7AE-492C-51F3-C24DC9DC3DCB}"/>
              </a:ext>
            </a:extLst>
          </p:cNvPr>
          <p:cNvSpPr/>
          <p:nvPr/>
        </p:nvSpPr>
        <p:spPr>
          <a:xfrm>
            <a:off x="2286695" y="1798039"/>
            <a:ext cx="139010" cy="301390"/>
          </a:xfrm>
          <a:prstGeom prst="up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5014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5" name="Up Arrow 24">
            <a:extLst>
              <a:ext uri="{FF2B5EF4-FFF2-40B4-BE49-F238E27FC236}">
                <a16:creationId xmlns:a16="http://schemas.microsoft.com/office/drawing/2014/main" id="{0ED158DE-10BE-E0E2-2775-0FDA9F0BFE1D}"/>
              </a:ext>
            </a:extLst>
          </p:cNvPr>
          <p:cNvSpPr/>
          <p:nvPr/>
        </p:nvSpPr>
        <p:spPr>
          <a:xfrm>
            <a:off x="1622520" y="1496649"/>
            <a:ext cx="139010" cy="301390"/>
          </a:xfrm>
          <a:prstGeom prst="up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5014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7" name="Graphic 26" descr="Tropical scene with solid fill">
            <a:extLst>
              <a:ext uri="{FF2B5EF4-FFF2-40B4-BE49-F238E27FC236}">
                <a16:creationId xmlns:a16="http://schemas.microsoft.com/office/drawing/2014/main" id="{27BB4471-97B8-E2B8-1D2C-325F65889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8" y="3216427"/>
            <a:ext cx="144000" cy="144000"/>
          </a:xfrm>
          <a:prstGeom prst="rect">
            <a:avLst/>
          </a:prstGeom>
        </p:spPr>
      </p:pic>
      <p:pic>
        <p:nvPicPr>
          <p:cNvPr id="29" name="Graphic 28" descr="Greek Temple with solid fill">
            <a:extLst>
              <a:ext uri="{FF2B5EF4-FFF2-40B4-BE49-F238E27FC236}">
                <a16:creationId xmlns:a16="http://schemas.microsoft.com/office/drawing/2014/main" id="{6D75BE8A-AFAB-8968-7E46-68B0588DF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948" y="3365398"/>
            <a:ext cx="144000" cy="144000"/>
          </a:xfrm>
          <a:prstGeom prst="rect">
            <a:avLst/>
          </a:prstGeom>
        </p:spPr>
      </p:pic>
      <p:pic>
        <p:nvPicPr>
          <p:cNvPr id="33" name="Graphic 32" descr="Wave with solid fill">
            <a:extLst>
              <a:ext uri="{FF2B5EF4-FFF2-40B4-BE49-F238E27FC236}">
                <a16:creationId xmlns:a16="http://schemas.microsoft.com/office/drawing/2014/main" id="{B8FA71E5-3727-0539-5230-83556F47BD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35882" y="3216427"/>
            <a:ext cx="144000" cy="144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FE8F47-5B32-2CF2-C6A3-D9BD5F17BA62}"/>
              </a:ext>
            </a:extLst>
          </p:cNvPr>
          <p:cNvSpPr txBox="1"/>
          <p:nvPr/>
        </p:nvSpPr>
        <p:spPr>
          <a:xfrm>
            <a:off x="3416786" y="2962214"/>
            <a:ext cx="2754742" cy="6129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the distance-decay effect remains </a:t>
            </a:r>
            <a:r>
              <a:rPr lang="en-US" sz="1000" b="1" dirty="0"/>
              <a:t>constant</a:t>
            </a:r>
            <a:r>
              <a:rPr lang="en-US" sz="1000" dirty="0"/>
              <a:t> over time, both for domestic  and for international tourism      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514C6A-8E93-C0FE-F9EC-867C5D0D001C}"/>
              </a:ext>
            </a:extLst>
          </p:cNvPr>
          <p:cNvSpPr txBox="1"/>
          <p:nvPr/>
        </p:nvSpPr>
        <p:spPr>
          <a:xfrm>
            <a:off x="6624000" y="2956642"/>
            <a:ext cx="2754742" cy="6129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more </a:t>
            </a:r>
            <a:r>
              <a:rPr lang="en-US" sz="1000" b="1" dirty="0"/>
              <a:t>total </a:t>
            </a:r>
            <a:r>
              <a:rPr lang="en-US" sz="1000" dirty="0"/>
              <a:t>tourists over larger distances, with </a:t>
            </a:r>
            <a:r>
              <a:rPr lang="en-GB" sz="1000" dirty="0"/>
              <a:t>potentially severe environmental effects   , especially when incomes        increase</a:t>
            </a:r>
            <a:r>
              <a:rPr lang="en-US" sz="1000" dirty="0"/>
              <a:t>.</a:t>
            </a:r>
          </a:p>
        </p:txBody>
      </p:sp>
      <p:pic>
        <p:nvPicPr>
          <p:cNvPr id="39" name="Graphic 38" descr="House with solid fill">
            <a:extLst>
              <a:ext uri="{FF2B5EF4-FFF2-40B4-BE49-F238E27FC236}">
                <a16:creationId xmlns:a16="http://schemas.microsoft.com/office/drawing/2014/main" id="{97A1DEA9-2847-5E42-3D59-B851FCFA4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5385" y="3185670"/>
            <a:ext cx="144000" cy="144000"/>
          </a:xfrm>
          <a:prstGeom prst="rect">
            <a:avLst/>
          </a:prstGeom>
        </p:spPr>
      </p:pic>
      <p:pic>
        <p:nvPicPr>
          <p:cNvPr id="41" name="Graphic 40" descr="Aeroplane with solid fill">
            <a:extLst>
              <a:ext uri="{FF2B5EF4-FFF2-40B4-BE49-F238E27FC236}">
                <a16:creationId xmlns:a16="http://schemas.microsoft.com/office/drawing/2014/main" id="{3EEF2AD4-9AC5-EC40-6115-4357F4A4E7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07392" y="3337217"/>
            <a:ext cx="144000" cy="144000"/>
          </a:xfrm>
          <a:prstGeom prst="rect">
            <a:avLst/>
          </a:prstGeom>
        </p:spPr>
      </p:pic>
      <p:pic>
        <p:nvPicPr>
          <p:cNvPr id="43" name="Graphic 42" descr="Sun with solid fill">
            <a:extLst>
              <a:ext uri="{FF2B5EF4-FFF2-40B4-BE49-F238E27FC236}">
                <a16:creationId xmlns:a16="http://schemas.microsoft.com/office/drawing/2014/main" id="{197CCC8B-AB96-ABD3-DB73-FC3A2B4D3E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61213" y="3191109"/>
            <a:ext cx="144000" cy="144000"/>
          </a:xfrm>
          <a:prstGeom prst="rect">
            <a:avLst/>
          </a:prstGeom>
        </p:spPr>
      </p:pic>
      <p:pic>
        <p:nvPicPr>
          <p:cNvPr id="45" name="Graphic 44" descr="Money with solid fill">
            <a:extLst>
              <a:ext uri="{FF2B5EF4-FFF2-40B4-BE49-F238E27FC236}">
                <a16:creationId xmlns:a16="http://schemas.microsoft.com/office/drawing/2014/main" id="{49C9A65D-8273-310F-660B-E876D23AC9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49063" y="3341859"/>
            <a:ext cx="144000" cy="144000"/>
          </a:xfrm>
          <a:prstGeom prst="rect">
            <a:avLst/>
          </a:prstGeom>
        </p:spPr>
      </p:pic>
      <p:sp>
        <p:nvSpPr>
          <p:cNvPr id="46" name="Pentagon 45">
            <a:extLst>
              <a:ext uri="{FF2B5EF4-FFF2-40B4-BE49-F238E27FC236}">
                <a16:creationId xmlns:a16="http://schemas.microsoft.com/office/drawing/2014/main" id="{71316B61-9E7E-303F-622F-C30DE1AB6603}"/>
              </a:ext>
            </a:extLst>
          </p:cNvPr>
          <p:cNvSpPr/>
          <p:nvPr/>
        </p:nvSpPr>
        <p:spPr>
          <a:xfrm>
            <a:off x="52265" y="2623542"/>
            <a:ext cx="1044000" cy="254000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But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F1387-4443-DE42-1534-6A91BAE1085B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</a:blip>
          <a:srcRect l="1929" t="1681" r="1226" b="1055"/>
          <a:stretch>
            <a:fillRect/>
          </a:stretch>
        </p:blipFill>
        <p:spPr>
          <a:xfrm>
            <a:off x="3528000" y="684000"/>
            <a:ext cx="2376000" cy="2088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6584A0-F3DB-C7C0-43B5-BC2A8544D7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7927" y="163323"/>
            <a:ext cx="2968042" cy="2968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1D74D3-B612-1525-B36D-43F06045C9A9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314" t="1091" r="634" b="1466"/>
          <a:stretch>
            <a:fillRect/>
          </a:stretch>
        </p:blipFill>
        <p:spPr>
          <a:xfrm>
            <a:off x="6768000" y="648000"/>
            <a:ext cx="2484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6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</TotalTime>
  <Words>110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Graaff, T. de (Thomas)</dc:creator>
  <cp:lastModifiedBy>Graaff, T. de (Thomas)</cp:lastModifiedBy>
  <cp:revision>3</cp:revision>
  <dcterms:created xsi:type="dcterms:W3CDTF">2025-05-28T08:59:59Z</dcterms:created>
  <dcterms:modified xsi:type="dcterms:W3CDTF">2026-01-26T18:27:23Z</dcterms:modified>
</cp:coreProperties>
</file>